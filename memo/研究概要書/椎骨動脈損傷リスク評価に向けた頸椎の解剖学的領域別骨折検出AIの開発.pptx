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58" r:id="rId5"/>
  </p:sldIdLst>
  <p:sldSz cx="30275213" cy="42803763"/>
  <p:notesSz cx="6858000" cy="9144000"/>
  <p:defaultTextStyle>
    <a:defPPr>
      <a:defRPr lang="ja-JP"/>
    </a:defPPr>
    <a:lvl1pPr marL="0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kumimoji="1"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AEA3"/>
    <a:srgbClr val="71EFCE"/>
    <a:srgbClr val="C55A11"/>
    <a:srgbClr val="FF3300"/>
    <a:srgbClr val="12B69B"/>
    <a:srgbClr val="004D40"/>
    <a:srgbClr val="0F9AA9"/>
    <a:srgbClr val="0E8C77"/>
    <a:srgbClr val="13336F"/>
    <a:srgbClr val="D7BA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 autoAdjust="0"/>
    <p:restoredTop sz="94038" autoAdjust="0"/>
  </p:normalViewPr>
  <p:slideViewPr>
    <p:cSldViewPr snapToGrid="0" snapToObjects="1">
      <p:cViewPr>
        <p:scale>
          <a:sx n="32" d="100"/>
          <a:sy n="32" d="100"/>
        </p:scale>
        <p:origin x="444" y="-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33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E6CCD-5344-4CE2-B1BF-DC418FC37048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8B0D0-6916-4E2F-9080-7D88CDF3D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41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8B0D0-6916-4E2F-9080-7D88CDF3DCD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915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3" y="7005165"/>
            <a:ext cx="25733931" cy="14902053"/>
          </a:xfrm>
        </p:spPr>
        <p:txBody>
          <a:bodyPr anchor="b"/>
          <a:lstStyle>
            <a:lvl1pPr algn="ctr">
              <a:defRPr sz="19872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6"/>
            <a:ext cx="22706410" cy="10334333"/>
          </a:xfrm>
        </p:spPr>
        <p:txBody>
          <a:bodyPr/>
          <a:lstStyle>
            <a:lvl1pPr marL="0" indent="0" algn="ctr">
              <a:buNone/>
              <a:defRPr sz="7949"/>
            </a:lvl1pPr>
            <a:lvl2pPr marL="1514087" indent="0" algn="ctr">
              <a:buNone/>
              <a:defRPr sz="6624"/>
            </a:lvl2pPr>
            <a:lvl3pPr marL="3028173" indent="0" algn="ctr">
              <a:buNone/>
              <a:defRPr sz="5962"/>
            </a:lvl3pPr>
            <a:lvl4pPr marL="4542265" indent="0" algn="ctr">
              <a:buNone/>
              <a:defRPr sz="5299"/>
            </a:lvl4pPr>
            <a:lvl5pPr marL="6056352" indent="0" algn="ctr">
              <a:buNone/>
              <a:defRPr sz="5299"/>
            </a:lvl5pPr>
            <a:lvl6pPr marL="7570444" indent="0" algn="ctr">
              <a:buNone/>
              <a:defRPr sz="5299"/>
            </a:lvl6pPr>
            <a:lvl7pPr marL="9084531" indent="0" algn="ctr">
              <a:buNone/>
              <a:defRPr sz="5299"/>
            </a:lvl7pPr>
            <a:lvl8pPr marL="10598617" indent="0" algn="ctr">
              <a:buNone/>
              <a:defRPr sz="5299"/>
            </a:lvl8pPr>
            <a:lvl9pPr marL="12112704" indent="0" algn="ctr">
              <a:buNone/>
              <a:defRPr sz="5299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537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90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6" y="10671237"/>
            <a:ext cx="26112371" cy="17805174"/>
          </a:xfrm>
        </p:spPr>
        <p:txBody>
          <a:bodyPr anchor="b"/>
          <a:lstStyle>
            <a:lvl1pPr>
              <a:defRPr sz="19872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6" y="28644851"/>
            <a:ext cx="26112371" cy="9363323"/>
          </a:xfrm>
        </p:spPr>
        <p:txBody>
          <a:bodyPr/>
          <a:lstStyle>
            <a:lvl1pPr marL="0" indent="0">
              <a:buNone/>
              <a:defRPr sz="7949">
                <a:solidFill>
                  <a:schemeClr val="tx1"/>
                </a:solidFill>
              </a:defRPr>
            </a:lvl1pPr>
            <a:lvl2pPr marL="1514087" indent="0">
              <a:buNone/>
              <a:defRPr sz="6624">
                <a:solidFill>
                  <a:schemeClr val="tx1">
                    <a:tint val="75000"/>
                  </a:schemeClr>
                </a:solidFill>
              </a:defRPr>
            </a:lvl2pPr>
            <a:lvl3pPr marL="3028173" indent="0">
              <a:buNone/>
              <a:defRPr sz="5962">
                <a:solidFill>
                  <a:schemeClr val="tx1">
                    <a:tint val="75000"/>
                  </a:schemeClr>
                </a:solidFill>
              </a:defRPr>
            </a:lvl3pPr>
            <a:lvl4pPr marL="4542265" indent="0">
              <a:buNone/>
              <a:defRPr sz="5299">
                <a:solidFill>
                  <a:schemeClr val="tx1">
                    <a:tint val="75000"/>
                  </a:schemeClr>
                </a:solidFill>
              </a:defRPr>
            </a:lvl4pPr>
            <a:lvl5pPr marL="6056352" indent="0">
              <a:buNone/>
              <a:defRPr sz="5299">
                <a:solidFill>
                  <a:schemeClr val="tx1">
                    <a:tint val="75000"/>
                  </a:schemeClr>
                </a:solidFill>
              </a:defRPr>
            </a:lvl5pPr>
            <a:lvl6pPr marL="7570444" indent="0">
              <a:buNone/>
              <a:defRPr sz="5299">
                <a:solidFill>
                  <a:schemeClr val="tx1">
                    <a:tint val="75000"/>
                  </a:schemeClr>
                </a:solidFill>
              </a:defRPr>
            </a:lvl6pPr>
            <a:lvl7pPr marL="9084531" indent="0">
              <a:buNone/>
              <a:defRPr sz="5299">
                <a:solidFill>
                  <a:schemeClr val="tx1">
                    <a:tint val="75000"/>
                  </a:schemeClr>
                </a:solidFill>
              </a:defRPr>
            </a:lvl7pPr>
            <a:lvl8pPr marL="10598617" indent="0">
              <a:buNone/>
              <a:defRPr sz="5299">
                <a:solidFill>
                  <a:schemeClr val="tx1">
                    <a:tint val="75000"/>
                  </a:schemeClr>
                </a:solidFill>
              </a:defRPr>
            </a:lvl8pPr>
            <a:lvl9pPr marL="12112704" indent="0">
              <a:buNone/>
              <a:defRPr sz="5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88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3"/>
            <a:ext cx="12866966" cy="27158593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3"/>
            <a:ext cx="12866966" cy="27158593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16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6" y="2278911"/>
            <a:ext cx="26112371" cy="8273417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8"/>
            <a:ext cx="12807832" cy="5142391"/>
          </a:xfrm>
        </p:spPr>
        <p:txBody>
          <a:bodyPr anchor="b"/>
          <a:lstStyle>
            <a:lvl1pPr marL="0" indent="0">
              <a:buNone/>
              <a:defRPr sz="7949" b="1"/>
            </a:lvl1pPr>
            <a:lvl2pPr marL="1514087" indent="0">
              <a:buNone/>
              <a:defRPr sz="6624" b="1"/>
            </a:lvl2pPr>
            <a:lvl3pPr marL="3028173" indent="0">
              <a:buNone/>
              <a:defRPr sz="5962" b="1"/>
            </a:lvl3pPr>
            <a:lvl4pPr marL="4542265" indent="0">
              <a:buNone/>
              <a:defRPr sz="5299" b="1"/>
            </a:lvl4pPr>
            <a:lvl5pPr marL="6056352" indent="0">
              <a:buNone/>
              <a:defRPr sz="5299" b="1"/>
            </a:lvl5pPr>
            <a:lvl6pPr marL="7570444" indent="0">
              <a:buNone/>
              <a:defRPr sz="5299" b="1"/>
            </a:lvl6pPr>
            <a:lvl7pPr marL="9084531" indent="0">
              <a:buNone/>
              <a:defRPr sz="5299" b="1"/>
            </a:lvl7pPr>
            <a:lvl8pPr marL="10598617" indent="0">
              <a:buNone/>
              <a:defRPr sz="5299" b="1"/>
            </a:lvl8pPr>
            <a:lvl9pPr marL="12112704" indent="0">
              <a:buNone/>
              <a:defRPr sz="5299" b="1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6"/>
            <a:ext cx="12807832" cy="22997115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30" y="10492878"/>
            <a:ext cx="12870909" cy="5142391"/>
          </a:xfrm>
        </p:spPr>
        <p:txBody>
          <a:bodyPr anchor="b"/>
          <a:lstStyle>
            <a:lvl1pPr marL="0" indent="0">
              <a:buNone/>
              <a:defRPr sz="7949" b="1"/>
            </a:lvl1pPr>
            <a:lvl2pPr marL="1514087" indent="0">
              <a:buNone/>
              <a:defRPr sz="6624" b="1"/>
            </a:lvl2pPr>
            <a:lvl3pPr marL="3028173" indent="0">
              <a:buNone/>
              <a:defRPr sz="5962" b="1"/>
            </a:lvl3pPr>
            <a:lvl4pPr marL="4542265" indent="0">
              <a:buNone/>
              <a:defRPr sz="5299" b="1"/>
            </a:lvl4pPr>
            <a:lvl5pPr marL="6056352" indent="0">
              <a:buNone/>
              <a:defRPr sz="5299" b="1"/>
            </a:lvl5pPr>
            <a:lvl6pPr marL="7570444" indent="0">
              <a:buNone/>
              <a:defRPr sz="5299" b="1"/>
            </a:lvl6pPr>
            <a:lvl7pPr marL="9084531" indent="0">
              <a:buNone/>
              <a:defRPr sz="5299" b="1"/>
            </a:lvl7pPr>
            <a:lvl8pPr marL="10598617" indent="0">
              <a:buNone/>
              <a:defRPr sz="5299" b="1"/>
            </a:lvl8pPr>
            <a:lvl9pPr marL="12112704" indent="0">
              <a:buNone/>
              <a:defRPr sz="5299" b="1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30" y="15635266"/>
            <a:ext cx="12870909" cy="22997115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45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546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43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5"/>
            <a:ext cx="9764544" cy="9987544"/>
          </a:xfrm>
        </p:spPr>
        <p:txBody>
          <a:bodyPr anchor="b"/>
          <a:lstStyle>
            <a:lvl1pPr>
              <a:defRPr sz="10598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1" y="6162962"/>
            <a:ext cx="15326827" cy="30418413"/>
          </a:xfrm>
        </p:spPr>
        <p:txBody>
          <a:bodyPr/>
          <a:lstStyle>
            <a:lvl1pPr>
              <a:defRPr sz="10598"/>
            </a:lvl1pPr>
            <a:lvl2pPr>
              <a:defRPr sz="9274"/>
            </a:lvl2pPr>
            <a:lvl3pPr>
              <a:defRPr sz="7949"/>
            </a:lvl3pPr>
            <a:lvl4pPr>
              <a:defRPr sz="6624"/>
            </a:lvl4pPr>
            <a:lvl5pPr>
              <a:defRPr sz="6624"/>
            </a:lvl5pPr>
            <a:lvl6pPr>
              <a:defRPr sz="6624"/>
            </a:lvl6pPr>
            <a:lvl7pPr>
              <a:defRPr sz="6624"/>
            </a:lvl7pPr>
            <a:lvl8pPr>
              <a:defRPr sz="6624"/>
            </a:lvl8pPr>
            <a:lvl9pPr>
              <a:defRPr sz="6624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6"/>
            <a:ext cx="9764544" cy="23789782"/>
          </a:xfrm>
        </p:spPr>
        <p:txBody>
          <a:bodyPr/>
          <a:lstStyle>
            <a:lvl1pPr marL="0" indent="0">
              <a:buNone/>
              <a:defRPr sz="5299"/>
            </a:lvl1pPr>
            <a:lvl2pPr marL="1514087" indent="0">
              <a:buNone/>
              <a:defRPr sz="4637"/>
            </a:lvl2pPr>
            <a:lvl3pPr marL="3028173" indent="0">
              <a:buNone/>
              <a:defRPr sz="3974"/>
            </a:lvl3pPr>
            <a:lvl4pPr marL="4542265" indent="0">
              <a:buNone/>
              <a:defRPr sz="3312"/>
            </a:lvl4pPr>
            <a:lvl5pPr marL="6056352" indent="0">
              <a:buNone/>
              <a:defRPr sz="3312"/>
            </a:lvl5pPr>
            <a:lvl6pPr marL="7570444" indent="0">
              <a:buNone/>
              <a:defRPr sz="3312"/>
            </a:lvl6pPr>
            <a:lvl7pPr marL="9084531" indent="0">
              <a:buNone/>
              <a:defRPr sz="3312"/>
            </a:lvl7pPr>
            <a:lvl8pPr marL="10598617" indent="0">
              <a:buNone/>
              <a:defRPr sz="3312"/>
            </a:lvl8pPr>
            <a:lvl9pPr marL="12112704" indent="0">
              <a:buNone/>
              <a:defRPr sz="3312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5"/>
            <a:ext cx="9764544" cy="9987544"/>
          </a:xfrm>
        </p:spPr>
        <p:txBody>
          <a:bodyPr anchor="b"/>
          <a:lstStyle>
            <a:lvl1pPr>
              <a:defRPr sz="10598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1" y="6162962"/>
            <a:ext cx="15326827" cy="30418413"/>
          </a:xfrm>
        </p:spPr>
        <p:txBody>
          <a:bodyPr anchor="t"/>
          <a:lstStyle>
            <a:lvl1pPr marL="0" indent="0">
              <a:buNone/>
              <a:defRPr sz="10598"/>
            </a:lvl1pPr>
            <a:lvl2pPr marL="1514087" indent="0">
              <a:buNone/>
              <a:defRPr sz="9274"/>
            </a:lvl2pPr>
            <a:lvl3pPr marL="3028173" indent="0">
              <a:buNone/>
              <a:defRPr sz="7949"/>
            </a:lvl3pPr>
            <a:lvl4pPr marL="4542265" indent="0">
              <a:buNone/>
              <a:defRPr sz="6624"/>
            </a:lvl4pPr>
            <a:lvl5pPr marL="6056352" indent="0">
              <a:buNone/>
              <a:defRPr sz="6624"/>
            </a:lvl5pPr>
            <a:lvl6pPr marL="7570444" indent="0">
              <a:buNone/>
              <a:defRPr sz="6624"/>
            </a:lvl6pPr>
            <a:lvl7pPr marL="9084531" indent="0">
              <a:buNone/>
              <a:defRPr sz="6624"/>
            </a:lvl7pPr>
            <a:lvl8pPr marL="10598617" indent="0">
              <a:buNone/>
              <a:defRPr sz="6624"/>
            </a:lvl8pPr>
            <a:lvl9pPr marL="12112704" indent="0">
              <a:buNone/>
              <a:defRPr sz="6624"/>
            </a:lvl9pPr>
          </a:lstStyle>
          <a:p>
            <a:r>
              <a:rPr lang="ja-JP" altLang="en-US" dirty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6"/>
            <a:ext cx="9764544" cy="23789782"/>
          </a:xfrm>
        </p:spPr>
        <p:txBody>
          <a:bodyPr/>
          <a:lstStyle>
            <a:lvl1pPr marL="0" indent="0">
              <a:buNone/>
              <a:defRPr sz="5299"/>
            </a:lvl1pPr>
            <a:lvl2pPr marL="1514087" indent="0">
              <a:buNone/>
              <a:defRPr sz="4637"/>
            </a:lvl2pPr>
            <a:lvl3pPr marL="3028173" indent="0">
              <a:buNone/>
              <a:defRPr sz="3974"/>
            </a:lvl3pPr>
            <a:lvl4pPr marL="4542265" indent="0">
              <a:buNone/>
              <a:defRPr sz="3312"/>
            </a:lvl4pPr>
            <a:lvl5pPr marL="6056352" indent="0">
              <a:buNone/>
              <a:defRPr sz="3312"/>
            </a:lvl5pPr>
            <a:lvl6pPr marL="7570444" indent="0">
              <a:buNone/>
              <a:defRPr sz="3312"/>
            </a:lvl6pPr>
            <a:lvl7pPr marL="9084531" indent="0">
              <a:buNone/>
              <a:defRPr sz="3312"/>
            </a:lvl7pPr>
            <a:lvl8pPr marL="10598617" indent="0">
              <a:buNone/>
              <a:defRPr sz="3312"/>
            </a:lvl8pPr>
            <a:lvl9pPr marL="12112704" indent="0">
              <a:buNone/>
              <a:defRPr sz="3312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19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266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3" y="2278914"/>
            <a:ext cx="6528093" cy="36274210"/>
          </a:xfrm>
        </p:spPr>
        <p:txBody>
          <a:bodyPr vert="eaVert"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14"/>
            <a:ext cx="19205838" cy="36274210"/>
          </a:xfrm>
        </p:spPr>
        <p:txBody>
          <a:bodyPr vert="eaVert"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37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3" y="2278911"/>
            <a:ext cx="26112371" cy="8273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3" y="11394523"/>
            <a:ext cx="26112371" cy="27158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3" y="39672756"/>
            <a:ext cx="6811923" cy="2278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3BC81-7350-A349-9614-9EE98B242627}" type="datetimeFigureOut"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1" y="39672756"/>
            <a:ext cx="6811923" cy="2278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E98EE-9EA9-6B40-9CB4-F90F4BC43FA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73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8173" rtl="0" eaLnBrk="1" latinLnBrk="0" hangingPunct="1">
        <a:lnSpc>
          <a:spcPct val="90000"/>
        </a:lnSpc>
        <a:spcBef>
          <a:spcPct val="0"/>
        </a:spcBef>
        <a:buNone/>
        <a:defRPr kumimoji="1"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7046" indent="-757046" algn="l" defTabSz="3028173" rtl="0" eaLnBrk="1" latinLnBrk="0" hangingPunct="1">
        <a:lnSpc>
          <a:spcPct val="90000"/>
        </a:lnSpc>
        <a:spcBef>
          <a:spcPts val="3312"/>
        </a:spcBef>
        <a:buFont typeface="Arial" panose="020B0604020202020204" pitchFamily="34" charset="0"/>
        <a:buChar char="•"/>
        <a:defRPr kumimoji="1" sz="9274" kern="1200">
          <a:solidFill>
            <a:schemeClr val="tx1"/>
          </a:solidFill>
          <a:latin typeface="+mn-lt"/>
          <a:ea typeface="+mn-ea"/>
          <a:cs typeface="+mn-cs"/>
        </a:defRPr>
      </a:lvl1pPr>
      <a:lvl2pPr marL="2271133" indent="-757046" algn="l" defTabSz="3028173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kumimoji="1" sz="7949" kern="1200">
          <a:solidFill>
            <a:schemeClr val="tx1"/>
          </a:solidFill>
          <a:latin typeface="+mn-lt"/>
          <a:ea typeface="+mn-ea"/>
          <a:cs typeface="+mn-cs"/>
        </a:defRPr>
      </a:lvl2pPr>
      <a:lvl3pPr marL="3785219" indent="-757046" algn="l" defTabSz="3028173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kumimoji="1" sz="6624" kern="1200">
          <a:solidFill>
            <a:schemeClr val="tx1"/>
          </a:solidFill>
          <a:latin typeface="+mn-lt"/>
          <a:ea typeface="+mn-ea"/>
          <a:cs typeface="+mn-cs"/>
        </a:defRPr>
      </a:lvl3pPr>
      <a:lvl4pPr marL="5299306" indent="-757046" algn="l" defTabSz="3028173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4pPr>
      <a:lvl5pPr marL="6813398" indent="-757046" algn="l" defTabSz="3028173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5pPr>
      <a:lvl6pPr marL="8327485" indent="-757046" algn="l" defTabSz="3028173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6pPr>
      <a:lvl7pPr marL="9841571" indent="-757046" algn="l" defTabSz="3028173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7pPr>
      <a:lvl8pPr marL="11355664" indent="-757046" algn="l" defTabSz="3028173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8pPr>
      <a:lvl9pPr marL="12869750" indent="-757046" algn="l" defTabSz="3028173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1pPr>
      <a:lvl2pPr marL="1514087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2pPr>
      <a:lvl3pPr marL="3028173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3pPr>
      <a:lvl4pPr marL="4542265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4pPr>
      <a:lvl5pPr marL="6056352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5pPr>
      <a:lvl6pPr marL="7570444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6pPr>
      <a:lvl7pPr marL="9084531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7pPr>
      <a:lvl8pPr marL="10598617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8pPr>
      <a:lvl9pPr marL="12112704" algn="l" defTabSz="3028173" rtl="0" eaLnBrk="1" latinLnBrk="0" hangingPunct="1">
        <a:defRPr kumimoji="1" sz="59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oster_regi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0275784" cy="4069080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3858768"/>
            <a:ext cx="30275784" cy="210312"/>
          </a:xfrm>
          <a:prstGeom prst="rect">
            <a:avLst/>
          </a:prstGeom>
          <a:solidFill>
            <a:srgbClr val="238D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1097280" y="530352"/>
            <a:ext cx="28081224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5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椎骨動脈損傷リスク評価に向けた頸椎の</a:t>
            </a:r>
            <a:endParaRPr lang="ja-JP" sz="54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5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解剖学的領域別骨折検出AIの開発</a:t>
            </a:r>
            <a:endParaRPr lang="ja-JP" sz="5400"/>
          </a:p>
        </p:txBody>
      </p:sp>
      <p:sp>
        <p:nvSpPr>
          <p:cNvPr id="5" name="Text 5"/>
          <p:cNvSpPr txBox="1"/>
          <p:nvPr/>
        </p:nvSpPr>
        <p:spPr>
          <a:xfrm>
            <a:off x="1097280" y="2880360"/>
            <a:ext cx="28081224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2700" b="1" dirty="0">
                <a:solidFill>
                  <a:srgbClr val="DDEBF5"/>
                </a:solidFill>
                <a:latin typeface="Noto Sans CJK JP"/>
                <a:ea typeface="Noto Sans CJK JP"/>
                <a:cs typeface="Noto Sans CJK JP"/>
              </a:rPr>
              <a:t>坂口 裕也</a:t>
            </a:r>
            <a:endParaRPr lang="ja-JP" sz="2700"/>
          </a:p>
        </p:txBody>
      </p:sp>
      <p:sp>
        <p:nvSpPr>
          <p:cNvPr id="6" name="Shape 6"/>
          <p:cNvSpPr/>
          <p:nvPr/>
        </p:nvSpPr>
        <p:spPr>
          <a:xfrm>
            <a:off x="777240" y="4480560"/>
            <a:ext cx="28721304" cy="754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7E3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51560" y="4709160"/>
            <a:ext cx="28172664" cy="960120"/>
          </a:xfrm>
          <a:prstGeom prst="roundRect">
            <a:avLst/>
          </a:prstGeom>
          <a:solidFill>
            <a:srgbClr val="1E6FA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307592" y="4864608"/>
            <a:ext cx="10972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618488" y="4773168"/>
            <a:ext cx="27349704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3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研究背景</a:t>
            </a:r>
            <a:endParaRPr lang="ja-JP" sz="3000"/>
          </a:p>
        </p:txBody>
      </p:sp>
      <p:sp>
        <p:nvSpPr>
          <p:cNvPr id="10" name="Text 10"/>
          <p:cNvSpPr txBox="1"/>
          <p:nvPr/>
        </p:nvSpPr>
        <p:spPr>
          <a:xfrm>
            <a:off x="1508760" y="5989320"/>
            <a:ext cx="27294840" cy="2423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t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lang="ja-JP" sz="22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頸椎骨折では、骨折の有無だけでなく、骨折がどの解剖学的部位に及んでいるかが重要である。特に、椎骨動脈が走行する横突孔周辺への骨折波及は、損傷リスクを考えるうえで重要な所見となる。</a:t>
            </a:r>
            <a:endParaRPr lang="ja-JP" sz="2200"/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22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しかし、既存の骨折検出AIは主に患者単位・椎体単位の判定にとどまり、領域別ラベルの作成にも大きな負担と曖昧さが残る。</a:t>
            </a:r>
            <a:endParaRPr lang="ja-JP" sz="2200"/>
          </a:p>
        </p:txBody>
      </p:sp>
      <p:sp>
        <p:nvSpPr>
          <p:cNvPr id="11" name="Shape 11"/>
          <p:cNvSpPr/>
          <p:nvPr/>
        </p:nvSpPr>
        <p:spPr>
          <a:xfrm>
            <a:off x="1508760" y="8823960"/>
            <a:ext cx="8851392" cy="251460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C7D7E3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508760" y="8823960"/>
            <a:ext cx="164592" cy="2514600"/>
          </a:xfrm>
          <a:prstGeom prst="rect">
            <a:avLst/>
          </a:prstGeom>
          <a:solidFill>
            <a:srgbClr val="1E6F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892808" y="9015984"/>
            <a:ext cx="8183880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2100" b="1" dirty="0">
                <a:solidFill>
                  <a:srgbClr val="1E6FA6"/>
                </a:solidFill>
                <a:latin typeface="Noto Sans CJK JP"/>
                <a:ea typeface="Noto Sans CJK JP"/>
                <a:cs typeface="Noto Sans CJK JP"/>
              </a:rPr>
              <a:t>臨床上の課題</a:t>
            </a:r>
            <a:endParaRPr lang="ja-JP" sz="2100"/>
          </a:p>
        </p:txBody>
      </p:sp>
      <p:sp>
        <p:nvSpPr>
          <p:cNvPr id="14" name="Text 14"/>
          <p:cNvSpPr txBox="1"/>
          <p:nvPr/>
        </p:nvSpPr>
        <p:spPr>
          <a:xfrm>
            <a:off x="1892808" y="9619488"/>
            <a:ext cx="8065008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8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骨折の局在が分からず、血管損傷リスクにつながる所見を提示しにくい</a:t>
            </a:r>
            <a:endParaRPr lang="ja-JP" sz="1800"/>
          </a:p>
        </p:txBody>
      </p:sp>
      <p:sp>
        <p:nvSpPr>
          <p:cNvPr id="15" name="Shape 15"/>
          <p:cNvSpPr/>
          <p:nvPr/>
        </p:nvSpPr>
        <p:spPr>
          <a:xfrm>
            <a:off x="10716768" y="8823960"/>
            <a:ext cx="8851392" cy="2514600"/>
          </a:xfrm>
          <a:prstGeom prst="roundRect">
            <a:avLst/>
          </a:prstGeom>
          <a:solidFill>
            <a:srgbClr val="FBF5E6"/>
          </a:solidFill>
          <a:ln w="12700">
            <a:solidFill>
              <a:srgbClr val="C7D7E3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10716768" y="8823960"/>
            <a:ext cx="164592" cy="2514600"/>
          </a:xfrm>
          <a:prstGeom prst="rect">
            <a:avLst/>
          </a:prstGeom>
          <a:solidFill>
            <a:srgbClr val="D3A8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1100816" y="9015984"/>
            <a:ext cx="8183880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2100" b="1" dirty="0">
                <a:solidFill>
                  <a:srgbClr val="D3A83D"/>
                </a:solidFill>
                <a:latin typeface="Noto Sans CJK JP"/>
                <a:ea typeface="Noto Sans CJK JP"/>
                <a:cs typeface="Noto Sans CJK JP"/>
              </a:rPr>
              <a:t>データ上の課題</a:t>
            </a:r>
            <a:endParaRPr lang="ja-JP" sz="2100"/>
          </a:p>
        </p:txBody>
      </p:sp>
      <p:sp>
        <p:nvSpPr>
          <p:cNvPr id="18" name="Text 18"/>
          <p:cNvSpPr txBox="1"/>
          <p:nvPr/>
        </p:nvSpPr>
        <p:spPr>
          <a:xfrm>
            <a:off x="11100816" y="9619488"/>
            <a:ext cx="8065008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8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領域別アノテーションは負担が大きく、境界をまたぐ骨折では判断が曖昧</a:t>
            </a:r>
            <a:endParaRPr lang="ja-JP" sz="1800"/>
          </a:p>
        </p:txBody>
      </p:sp>
      <p:sp>
        <p:nvSpPr>
          <p:cNvPr id="19" name="Shape 19"/>
          <p:cNvSpPr/>
          <p:nvPr/>
        </p:nvSpPr>
        <p:spPr>
          <a:xfrm>
            <a:off x="19924776" y="8823960"/>
            <a:ext cx="8851392" cy="2514600"/>
          </a:xfrm>
          <a:prstGeom prst="roundRect">
            <a:avLst/>
          </a:prstGeom>
          <a:solidFill>
            <a:srgbClr val="E9F6F3"/>
          </a:solidFill>
          <a:ln w="12700">
            <a:solidFill>
              <a:srgbClr val="C7D7E3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19924776" y="8823960"/>
            <a:ext cx="164592" cy="2514600"/>
          </a:xfrm>
          <a:prstGeom prst="rect">
            <a:avLst/>
          </a:prstGeom>
          <a:solidFill>
            <a:srgbClr val="238D8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20308824" y="9015984"/>
            <a:ext cx="8183880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21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研究目的</a:t>
            </a:r>
            <a:endParaRPr lang="ja-JP" sz="2100"/>
          </a:p>
        </p:txBody>
      </p:sp>
      <p:sp>
        <p:nvSpPr>
          <p:cNvPr id="22" name="Text 22"/>
          <p:cNvSpPr txBox="1"/>
          <p:nvPr/>
        </p:nvSpPr>
        <p:spPr>
          <a:xfrm>
            <a:off x="20308824" y="9619488"/>
            <a:ext cx="8065008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8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椎体単位ラベルのみで、全体判定と4領域別の骨折候補提示を両立する</a:t>
            </a:r>
            <a:endParaRPr lang="ja-JP" sz="1800"/>
          </a:p>
        </p:txBody>
      </p:sp>
      <p:sp>
        <p:nvSpPr>
          <p:cNvPr id="23" name="Shape 23"/>
          <p:cNvSpPr/>
          <p:nvPr/>
        </p:nvSpPr>
        <p:spPr>
          <a:xfrm>
            <a:off x="777240" y="12390120"/>
            <a:ext cx="28721304" cy="1677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7E3"/>
            </a:solidFill>
          </a:ln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1051560" y="12618720"/>
            <a:ext cx="28172664" cy="960120"/>
          </a:xfrm>
          <a:prstGeom prst="roundRect">
            <a:avLst/>
          </a:prstGeom>
          <a:solidFill>
            <a:srgbClr val="1E6F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307592" y="12774168"/>
            <a:ext cx="10972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1618488" y="12682728"/>
            <a:ext cx="27349704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3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提案手法</a:t>
            </a:r>
            <a:endParaRPr lang="ja-JP" sz="3000"/>
          </a:p>
        </p:txBody>
      </p:sp>
      <p:sp>
        <p:nvSpPr>
          <p:cNvPr id="27" name="Text 27"/>
          <p:cNvSpPr txBox="1"/>
          <p:nvPr/>
        </p:nvSpPr>
        <p:spPr>
          <a:xfrm>
            <a:off x="1417320" y="13789152"/>
            <a:ext cx="2743200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2400" b="1" dirty="0">
                <a:solidFill>
                  <a:srgbClr val="173B5E"/>
                </a:solidFill>
                <a:latin typeface="Noto Sans CJK JP"/>
                <a:ea typeface="Noto Sans CJK JP"/>
                <a:cs typeface="Noto Sans CJK JP"/>
              </a:rPr>
              <a:t>1. 頸椎の解剖学的4領域自動分割手法</a:t>
            </a:r>
            <a:endParaRPr lang="ja-JP" sz="2400"/>
          </a:p>
        </p:txBody>
      </p:sp>
      <p:sp>
        <p:nvSpPr>
          <p:cNvPr id="28" name="Shape 28"/>
          <p:cNvSpPr/>
          <p:nvPr/>
        </p:nvSpPr>
        <p:spPr>
          <a:xfrm>
            <a:off x="1280160" y="14520672"/>
            <a:ext cx="4892040" cy="1170432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1E6FA6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1408176" y="14612112"/>
            <a:ext cx="463600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頸椎CT</a:t>
            </a:r>
            <a:endParaRPr lang="ja-JP" sz="15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入力</a:t>
            </a:r>
            <a:endParaRPr lang="ja-JP" sz="1500"/>
          </a:p>
        </p:txBody>
      </p:sp>
      <p:sp>
        <p:nvSpPr>
          <p:cNvPr id="30" name="Shape 30"/>
          <p:cNvSpPr/>
          <p:nvPr/>
        </p:nvSpPr>
        <p:spPr>
          <a:xfrm>
            <a:off x="6263640" y="14813280"/>
            <a:ext cx="420624" cy="566928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720840" y="14520672"/>
            <a:ext cx="4892040" cy="1170432"/>
          </a:xfrm>
          <a:prstGeom prst="roundRect">
            <a:avLst/>
          </a:prstGeom>
          <a:solidFill>
            <a:srgbClr val="E6F0F7"/>
          </a:solidFill>
          <a:ln w="16510">
            <a:solidFill>
              <a:srgbClr val="1E6FA6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848856" y="14612112"/>
            <a:ext cx="463600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対象椎体を抽出</a:t>
            </a:r>
            <a:endParaRPr lang="ja-JP" sz="15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向きを補正</a:t>
            </a:r>
            <a:endParaRPr lang="ja-JP" sz="1500"/>
          </a:p>
        </p:txBody>
      </p:sp>
      <p:sp>
        <p:nvSpPr>
          <p:cNvPr id="33" name="Shape 33"/>
          <p:cNvSpPr/>
          <p:nvPr/>
        </p:nvSpPr>
        <p:spPr>
          <a:xfrm>
            <a:off x="11704320" y="14813280"/>
            <a:ext cx="420624" cy="566928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12161520" y="14520672"/>
            <a:ext cx="4892040" cy="1170432"/>
          </a:xfrm>
          <a:prstGeom prst="roundRect">
            <a:avLst/>
          </a:prstGeom>
          <a:solidFill>
            <a:srgbClr val="E9F6F3"/>
          </a:solidFill>
          <a:ln w="16510">
            <a:solidFill>
              <a:srgbClr val="238D85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12289536" y="14612112"/>
            <a:ext cx="463600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解剖学的境界線</a:t>
            </a:r>
            <a:endParaRPr lang="ja-JP" sz="15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を自動推定</a:t>
            </a:r>
            <a:endParaRPr lang="ja-JP" sz="1500"/>
          </a:p>
        </p:txBody>
      </p:sp>
      <p:sp>
        <p:nvSpPr>
          <p:cNvPr id="36" name="Shape 36"/>
          <p:cNvSpPr/>
          <p:nvPr/>
        </p:nvSpPr>
        <p:spPr>
          <a:xfrm>
            <a:off x="17145000" y="14813280"/>
            <a:ext cx="420624" cy="566928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 37"/>
          <p:cNvSpPr/>
          <p:nvPr/>
        </p:nvSpPr>
        <p:spPr>
          <a:xfrm>
            <a:off x="17602200" y="14520672"/>
            <a:ext cx="4892040" cy="1170432"/>
          </a:xfrm>
          <a:prstGeom prst="roundRect">
            <a:avLst/>
          </a:prstGeom>
          <a:solidFill>
            <a:srgbClr val="EFEAF7"/>
          </a:solidFill>
          <a:ln w="16510">
            <a:solidFill>
              <a:srgbClr val="7A6AA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17730216" y="14612112"/>
            <a:ext cx="463600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複数断面へ境界を</a:t>
            </a:r>
            <a:endParaRPr lang="ja-JP" sz="15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補間・伝播</a:t>
            </a:r>
            <a:endParaRPr lang="ja-JP" sz="1500"/>
          </a:p>
        </p:txBody>
      </p:sp>
      <p:sp>
        <p:nvSpPr>
          <p:cNvPr id="39" name="Shape 39"/>
          <p:cNvSpPr/>
          <p:nvPr/>
        </p:nvSpPr>
        <p:spPr>
          <a:xfrm>
            <a:off x="22585680" y="14813280"/>
            <a:ext cx="420624" cy="566928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hape 40"/>
          <p:cNvSpPr/>
          <p:nvPr/>
        </p:nvSpPr>
        <p:spPr>
          <a:xfrm>
            <a:off x="23042880" y="14520672"/>
            <a:ext cx="4892040" cy="1170432"/>
          </a:xfrm>
          <a:prstGeom prst="roundRect">
            <a:avLst/>
          </a:prstGeom>
          <a:solidFill>
            <a:srgbClr val="FBF5E6"/>
          </a:solidFill>
          <a:ln w="16510">
            <a:solidFill>
              <a:srgbClr val="D3A83D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23170896" y="14612112"/>
            <a:ext cx="463600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解剖学的4領域</a:t>
            </a:r>
            <a:endParaRPr lang="ja-JP" sz="15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マスクを生成</a:t>
            </a:r>
            <a:endParaRPr lang="ja-JP" sz="1500"/>
          </a:p>
        </p:txBody>
      </p:sp>
      <p:pic>
        <p:nvPicPr>
          <p:cNvPr id="42" name="Region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928848"/>
            <a:ext cx="20583144" cy="4279392"/>
          </a:xfrm>
          <a:prstGeom prst="rect">
            <a:avLst/>
          </a:prstGeom>
          <a:ln w="19050">
            <a:solidFill>
              <a:srgbClr val="C7D7E3"/>
            </a:solidFill>
          </a:ln>
        </p:spPr>
      </p:pic>
      <p:sp>
        <p:nvSpPr>
          <p:cNvPr id="43" name="LabelBackground 43"/>
          <p:cNvSpPr/>
          <p:nvPr/>
        </p:nvSpPr>
        <p:spPr>
          <a:xfrm>
            <a:off x="1965960" y="20253960"/>
            <a:ext cx="5943600" cy="658368"/>
          </a:xfrm>
          <a:prstGeom prst="roundRect">
            <a:avLst/>
          </a:prstGeom>
          <a:solidFill>
            <a:srgbClr val="5A9F6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LabelText 44"/>
          <p:cNvSpPr txBox="1"/>
          <p:nvPr/>
        </p:nvSpPr>
        <p:spPr>
          <a:xfrm>
            <a:off x="2039112" y="20272248"/>
            <a:ext cx="579729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椎体領域</a:t>
            </a:r>
            <a:endParaRPr lang="ja-JP" sz="1700"/>
          </a:p>
        </p:txBody>
      </p:sp>
      <p:sp>
        <p:nvSpPr>
          <p:cNvPr id="45" name="LabelBackground 45"/>
          <p:cNvSpPr/>
          <p:nvPr/>
        </p:nvSpPr>
        <p:spPr>
          <a:xfrm>
            <a:off x="8366760" y="20253960"/>
            <a:ext cx="5943600" cy="658368"/>
          </a:xfrm>
          <a:prstGeom prst="roundRect">
            <a:avLst/>
          </a:prstGeom>
          <a:solidFill>
            <a:srgbClr val="1E6FA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LabelText 46"/>
          <p:cNvSpPr txBox="1"/>
          <p:nvPr/>
        </p:nvSpPr>
        <p:spPr>
          <a:xfrm>
            <a:off x="8439912" y="20272248"/>
            <a:ext cx="579729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右横突孔周辺</a:t>
            </a:r>
            <a:endParaRPr lang="ja-JP" sz="1700"/>
          </a:p>
        </p:txBody>
      </p:sp>
      <p:sp>
        <p:nvSpPr>
          <p:cNvPr id="47" name="LabelBackground 47"/>
          <p:cNvSpPr/>
          <p:nvPr/>
        </p:nvSpPr>
        <p:spPr>
          <a:xfrm>
            <a:off x="14767560" y="20253960"/>
            <a:ext cx="5943600" cy="658368"/>
          </a:xfrm>
          <a:prstGeom prst="roundRect">
            <a:avLst/>
          </a:prstGeom>
          <a:solidFill>
            <a:srgbClr val="D86B6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LabelText 48"/>
          <p:cNvSpPr txBox="1"/>
          <p:nvPr/>
        </p:nvSpPr>
        <p:spPr>
          <a:xfrm>
            <a:off x="14840712" y="20272248"/>
            <a:ext cx="579729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左横突孔周辺</a:t>
            </a:r>
            <a:endParaRPr lang="ja-JP" sz="1700"/>
          </a:p>
        </p:txBody>
      </p:sp>
      <p:sp>
        <p:nvSpPr>
          <p:cNvPr id="49" name="LabelBackground 49"/>
          <p:cNvSpPr/>
          <p:nvPr/>
        </p:nvSpPr>
        <p:spPr>
          <a:xfrm>
            <a:off x="21168360" y="20253960"/>
            <a:ext cx="5943600" cy="658368"/>
          </a:xfrm>
          <a:prstGeom prst="roundRect">
            <a:avLst/>
          </a:prstGeom>
          <a:solidFill>
            <a:srgbClr val="D3A8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LabelText 50"/>
          <p:cNvSpPr txBox="1"/>
          <p:nvPr/>
        </p:nvSpPr>
        <p:spPr>
          <a:xfrm>
            <a:off x="21241512" y="20272248"/>
            <a:ext cx="579729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後方要素</a:t>
            </a:r>
            <a:endParaRPr lang="ja-JP" sz="1700"/>
          </a:p>
        </p:txBody>
      </p:sp>
      <p:sp>
        <p:nvSpPr>
          <p:cNvPr id="51" name="Text 51"/>
          <p:cNvSpPr txBox="1"/>
          <p:nvPr/>
        </p:nvSpPr>
        <p:spPr>
          <a:xfrm>
            <a:off x="1417320" y="21259800"/>
            <a:ext cx="2743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2400" b="1" dirty="0">
                <a:solidFill>
                  <a:srgbClr val="173B5E"/>
                </a:solidFill>
                <a:latin typeface="Noto Sans CJK JP"/>
                <a:ea typeface="Noto Sans CJK JP"/>
                <a:cs typeface="Noto Sans CJK JP"/>
              </a:rPr>
              <a:t>2. 深層学習による解剖学的領域別の骨折検出法</a:t>
            </a:r>
            <a:endParaRPr lang="ja-JP" sz="2400"/>
          </a:p>
        </p:txBody>
      </p:sp>
      <p:sp>
        <p:nvSpPr>
          <p:cNvPr id="52" name="Shape 52"/>
          <p:cNvSpPr/>
          <p:nvPr/>
        </p:nvSpPr>
        <p:spPr>
          <a:xfrm>
            <a:off x="1234440" y="22631400"/>
            <a:ext cx="3063240" cy="1874520"/>
          </a:xfrm>
          <a:prstGeom prst="roundRect">
            <a:avLst/>
          </a:prstGeom>
          <a:solidFill>
            <a:srgbClr val="EAF3F8"/>
          </a:solidFill>
          <a:ln w="19050">
            <a:solidFill>
              <a:srgbClr val="1E6FA6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1399032" y="22814280"/>
            <a:ext cx="2734056" cy="1508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頸椎CT</a:t>
            </a:r>
            <a:endParaRPr lang="ja-JP" sz="18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複数断面</a:t>
            </a:r>
            <a:endParaRPr lang="ja-JP" sz="1800"/>
          </a:p>
        </p:txBody>
      </p:sp>
      <p:sp>
        <p:nvSpPr>
          <p:cNvPr id="54" name="Shape 54"/>
          <p:cNvSpPr/>
          <p:nvPr/>
        </p:nvSpPr>
        <p:spPr>
          <a:xfrm>
            <a:off x="4800600" y="22631400"/>
            <a:ext cx="3246120" cy="1874520"/>
          </a:xfrm>
          <a:prstGeom prst="roundRect">
            <a:avLst/>
          </a:prstGeom>
          <a:solidFill>
            <a:srgbClr val="E6F0F7"/>
          </a:solidFill>
          <a:ln w="19050">
            <a:solidFill>
              <a:srgbClr val="1E6FA6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4965192" y="22814280"/>
            <a:ext cx="2916936" cy="1508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共有特徴</a:t>
            </a:r>
            <a:endParaRPr lang="ja-JP" sz="18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抽出</a:t>
            </a:r>
            <a:endParaRPr lang="ja-JP" sz="1800"/>
          </a:p>
        </p:txBody>
      </p:sp>
      <p:sp>
        <p:nvSpPr>
          <p:cNvPr id="56" name="Shape 56"/>
          <p:cNvSpPr/>
          <p:nvPr/>
        </p:nvSpPr>
        <p:spPr>
          <a:xfrm>
            <a:off x="8549640" y="22631400"/>
            <a:ext cx="3794760" cy="1874520"/>
          </a:xfrm>
          <a:prstGeom prst="roundRect">
            <a:avLst/>
          </a:prstGeom>
          <a:solidFill>
            <a:srgbClr val="E9F6F3"/>
          </a:solidFill>
          <a:ln w="19050">
            <a:solidFill>
              <a:srgbClr val="238D85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8714232" y="22814280"/>
            <a:ext cx="3465576" cy="1508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領域マスク</a:t>
            </a:r>
            <a:endParaRPr lang="ja-JP" sz="18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特徴プーリング</a:t>
            </a:r>
            <a:endParaRPr lang="ja-JP" sz="1800"/>
          </a:p>
        </p:txBody>
      </p:sp>
      <p:sp>
        <p:nvSpPr>
          <p:cNvPr id="58" name="Shape 58"/>
          <p:cNvSpPr/>
          <p:nvPr/>
        </p:nvSpPr>
        <p:spPr>
          <a:xfrm>
            <a:off x="21442680" y="22631400"/>
            <a:ext cx="3246120" cy="1874520"/>
          </a:xfrm>
          <a:prstGeom prst="roundRect">
            <a:avLst/>
          </a:prstGeom>
          <a:solidFill>
            <a:srgbClr val="EFEAF7"/>
          </a:solidFill>
          <a:ln w="19050">
            <a:solidFill>
              <a:srgbClr val="7A6AA8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21607272" y="22814280"/>
            <a:ext cx="2916936" cy="1508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階層2</a:t>
            </a:r>
            <a:endParaRPr lang="ja-JP" sz="18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領域間統合</a:t>
            </a:r>
            <a:endParaRPr lang="ja-JP" sz="1800"/>
          </a:p>
        </p:txBody>
      </p:sp>
      <p:sp>
        <p:nvSpPr>
          <p:cNvPr id="60" name="Shape 60"/>
          <p:cNvSpPr/>
          <p:nvPr/>
        </p:nvSpPr>
        <p:spPr>
          <a:xfrm>
            <a:off x="25191720" y="22631400"/>
            <a:ext cx="3794760" cy="1874520"/>
          </a:xfrm>
          <a:prstGeom prst="roundRect">
            <a:avLst/>
          </a:prstGeom>
          <a:solidFill>
            <a:srgbClr val="173B5E"/>
          </a:solidFill>
          <a:ln w="19050">
            <a:solidFill>
              <a:srgbClr val="173B5E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25356312" y="22814280"/>
            <a:ext cx="3465576" cy="1508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椎体単位</a:t>
            </a:r>
            <a:endParaRPr lang="ja-JP" sz="18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骨折判定</a:t>
            </a:r>
            <a:endParaRPr lang="ja-JP" sz="1800"/>
          </a:p>
        </p:txBody>
      </p:sp>
      <p:sp>
        <p:nvSpPr>
          <p:cNvPr id="62" name="Shape 62"/>
          <p:cNvSpPr/>
          <p:nvPr/>
        </p:nvSpPr>
        <p:spPr>
          <a:xfrm>
            <a:off x="4315968" y="23189184"/>
            <a:ext cx="475488" cy="713232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8065008" y="23189184"/>
            <a:ext cx="475488" cy="713232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Shape 64"/>
          <p:cNvSpPr/>
          <p:nvPr/>
        </p:nvSpPr>
        <p:spPr>
          <a:xfrm>
            <a:off x="12390120" y="23189184"/>
            <a:ext cx="475488" cy="713232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20948904" y="23189184"/>
            <a:ext cx="475488" cy="713232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hape 66"/>
          <p:cNvSpPr/>
          <p:nvPr/>
        </p:nvSpPr>
        <p:spPr>
          <a:xfrm>
            <a:off x="24707088" y="23189184"/>
            <a:ext cx="475488" cy="713232"/>
          </a:xfrm>
          <a:prstGeom prst="right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Shape 67"/>
          <p:cNvSpPr/>
          <p:nvPr/>
        </p:nvSpPr>
        <p:spPr>
          <a:xfrm>
            <a:off x="12893040" y="21991320"/>
            <a:ext cx="80467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6AA8"/>
            </a:solidFill>
          </a:ln>
        </p:spPr>
        <p:txBody>
          <a:bodyPr/>
          <a:lstStyle/>
          <a:p/>
        </p:txBody>
      </p:sp>
      <p:sp>
        <p:nvSpPr>
          <p:cNvPr id="68" name="LabelBackground 68"/>
          <p:cNvSpPr/>
          <p:nvPr/>
        </p:nvSpPr>
        <p:spPr>
          <a:xfrm>
            <a:off x="13121640" y="22174200"/>
            <a:ext cx="7589520" cy="621792"/>
          </a:xfrm>
          <a:prstGeom prst="roundRect">
            <a:avLst/>
          </a:prstGeom>
          <a:solidFill>
            <a:srgbClr val="7A6AA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LabelText 69"/>
          <p:cNvSpPr txBox="1"/>
          <p:nvPr/>
        </p:nvSpPr>
        <p:spPr>
          <a:xfrm>
            <a:off x="13194792" y="22192488"/>
            <a:ext cx="7443216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階層1｜各領域で断面情報を統合</a:t>
            </a:r>
            <a:endParaRPr lang="ja-JP" sz="1600"/>
          </a:p>
        </p:txBody>
      </p:sp>
      <p:sp>
        <p:nvSpPr>
          <p:cNvPr id="70" name="Shape 70"/>
          <p:cNvSpPr/>
          <p:nvPr/>
        </p:nvSpPr>
        <p:spPr>
          <a:xfrm>
            <a:off x="13149072" y="22951440"/>
            <a:ext cx="2084832" cy="566928"/>
          </a:xfrm>
          <a:prstGeom prst="roundRect">
            <a:avLst/>
          </a:prstGeom>
          <a:solidFill>
            <a:srgbClr val="5A9F68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13240512" y="22978872"/>
            <a:ext cx="1901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椎体領域</a:t>
            </a:r>
            <a:endParaRPr lang="ja-JP" sz="1300"/>
          </a:p>
        </p:txBody>
      </p:sp>
      <p:sp>
        <p:nvSpPr>
          <p:cNvPr id="72" name="Text 72"/>
          <p:cNvSpPr txBox="1"/>
          <p:nvPr/>
        </p:nvSpPr>
        <p:spPr>
          <a:xfrm>
            <a:off x="15380208" y="22969728"/>
            <a:ext cx="5074920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3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各断面特徴 → 文脈統合 → 候補スコア</a:t>
            </a:r>
            <a:endParaRPr lang="ja-JP" sz="1300"/>
          </a:p>
        </p:txBody>
      </p:sp>
      <p:sp>
        <p:nvSpPr>
          <p:cNvPr id="73" name="Shape 73"/>
          <p:cNvSpPr/>
          <p:nvPr/>
        </p:nvSpPr>
        <p:spPr>
          <a:xfrm>
            <a:off x="13149072" y="23664672"/>
            <a:ext cx="2084832" cy="566928"/>
          </a:xfrm>
          <a:prstGeom prst="roundRect">
            <a:avLst/>
          </a:prstGeom>
          <a:solidFill>
            <a:srgbClr val="1E6FA6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ext 74"/>
          <p:cNvSpPr txBox="1"/>
          <p:nvPr/>
        </p:nvSpPr>
        <p:spPr>
          <a:xfrm>
            <a:off x="13240512" y="23692104"/>
            <a:ext cx="1901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右横突孔周辺</a:t>
            </a:r>
            <a:endParaRPr lang="ja-JP" sz="1300"/>
          </a:p>
        </p:txBody>
      </p:sp>
      <p:sp>
        <p:nvSpPr>
          <p:cNvPr id="75" name="Text 75"/>
          <p:cNvSpPr txBox="1"/>
          <p:nvPr/>
        </p:nvSpPr>
        <p:spPr>
          <a:xfrm>
            <a:off x="15380208" y="23682960"/>
            <a:ext cx="5074920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3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各断面特徴 → 文脈統合 → 候補スコア</a:t>
            </a:r>
            <a:endParaRPr lang="ja-JP" sz="1300"/>
          </a:p>
        </p:txBody>
      </p:sp>
      <p:sp>
        <p:nvSpPr>
          <p:cNvPr id="76" name="Shape 76"/>
          <p:cNvSpPr/>
          <p:nvPr/>
        </p:nvSpPr>
        <p:spPr>
          <a:xfrm>
            <a:off x="13149072" y="24377904"/>
            <a:ext cx="2084832" cy="566928"/>
          </a:xfrm>
          <a:prstGeom prst="roundRect">
            <a:avLst/>
          </a:prstGeom>
          <a:solidFill>
            <a:srgbClr val="D86B6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Text 77"/>
          <p:cNvSpPr txBox="1"/>
          <p:nvPr/>
        </p:nvSpPr>
        <p:spPr>
          <a:xfrm>
            <a:off x="13240512" y="24405336"/>
            <a:ext cx="1901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左横突孔周辺</a:t>
            </a:r>
            <a:endParaRPr lang="ja-JP" sz="1300"/>
          </a:p>
        </p:txBody>
      </p:sp>
      <p:sp>
        <p:nvSpPr>
          <p:cNvPr id="78" name="Text 78"/>
          <p:cNvSpPr txBox="1"/>
          <p:nvPr/>
        </p:nvSpPr>
        <p:spPr>
          <a:xfrm>
            <a:off x="15380208" y="24396192"/>
            <a:ext cx="5074920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3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各断面特徴 → 文脈統合 → 候補スコア</a:t>
            </a:r>
            <a:endParaRPr lang="ja-JP" sz="1300"/>
          </a:p>
        </p:txBody>
      </p:sp>
      <p:sp>
        <p:nvSpPr>
          <p:cNvPr id="79" name="Shape 79"/>
          <p:cNvSpPr/>
          <p:nvPr/>
        </p:nvSpPr>
        <p:spPr>
          <a:xfrm>
            <a:off x="13149072" y="25091136"/>
            <a:ext cx="2084832" cy="566928"/>
          </a:xfrm>
          <a:prstGeom prst="roundRect">
            <a:avLst/>
          </a:prstGeom>
          <a:solidFill>
            <a:srgbClr val="D3A8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Text 80"/>
          <p:cNvSpPr txBox="1"/>
          <p:nvPr/>
        </p:nvSpPr>
        <p:spPr>
          <a:xfrm>
            <a:off x="13240512" y="25118568"/>
            <a:ext cx="1901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後方要素</a:t>
            </a:r>
            <a:endParaRPr lang="ja-JP" sz="1300"/>
          </a:p>
        </p:txBody>
      </p:sp>
      <p:sp>
        <p:nvSpPr>
          <p:cNvPr id="81" name="Text 81"/>
          <p:cNvSpPr txBox="1"/>
          <p:nvPr/>
        </p:nvSpPr>
        <p:spPr>
          <a:xfrm>
            <a:off x="15380208" y="25109424"/>
            <a:ext cx="5074920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3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各断面特徴 → 文脈統合 → 候補スコア</a:t>
            </a:r>
            <a:endParaRPr lang="ja-JP" sz="1300"/>
          </a:p>
        </p:txBody>
      </p:sp>
      <p:sp>
        <p:nvSpPr>
          <p:cNvPr id="82" name="LabelBackground 82"/>
          <p:cNvSpPr/>
          <p:nvPr/>
        </p:nvSpPr>
        <p:spPr>
          <a:xfrm>
            <a:off x="8732520" y="25008840"/>
            <a:ext cx="3429000" cy="749808"/>
          </a:xfrm>
          <a:prstGeom prst="roundRect">
            <a:avLst/>
          </a:prstGeom>
          <a:solidFill>
            <a:srgbClr val="DDEEF4"/>
          </a:solidFill>
          <a:ln w="15240">
            <a:solidFill>
              <a:srgbClr val="A9CADB"/>
            </a:solidFill>
          </a:ln>
        </p:spPr>
        <p:txBody>
          <a:bodyPr/>
          <a:lstStyle/>
          <a:p/>
        </p:txBody>
      </p:sp>
      <p:sp>
        <p:nvSpPr>
          <p:cNvPr id="83" name="LabelText 83"/>
          <p:cNvSpPr txBox="1"/>
          <p:nvPr/>
        </p:nvSpPr>
        <p:spPr>
          <a:xfrm>
            <a:off x="8805672" y="25027128"/>
            <a:ext cx="3282696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500" b="1" dirty="0">
                <a:solidFill>
                  <a:srgbClr val="1E6FA6"/>
                </a:solidFill>
                <a:latin typeface="Noto Sans CJK JP"/>
                <a:ea typeface="Noto Sans CJK JP"/>
                <a:cs typeface="Noto Sans CJK JP"/>
              </a:rPr>
              <a:t>解剖学的4領域マスク</a:t>
            </a:r>
            <a:endParaRPr lang="ja-JP" sz="1500"/>
          </a:p>
        </p:txBody>
      </p:sp>
      <p:sp>
        <p:nvSpPr>
          <p:cNvPr id="84" name="Shape 84"/>
          <p:cNvSpPr/>
          <p:nvPr/>
        </p:nvSpPr>
        <p:spPr>
          <a:xfrm>
            <a:off x="10149840" y="24368760"/>
            <a:ext cx="548640" cy="658368"/>
          </a:xfrm>
          <a:prstGeom prst="upArrow">
            <a:avLst/>
          </a:prstGeom>
          <a:solidFill>
            <a:srgbClr val="7FA6B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LabelBackground 85"/>
          <p:cNvSpPr/>
          <p:nvPr/>
        </p:nvSpPr>
        <p:spPr>
          <a:xfrm>
            <a:off x="1234440" y="26471880"/>
            <a:ext cx="15499080" cy="1024128"/>
          </a:xfrm>
          <a:prstGeom prst="roundRect">
            <a:avLst/>
          </a:prstGeom>
          <a:solidFill>
            <a:srgbClr val="E9F6F3"/>
          </a:solidFill>
          <a:ln w="15240">
            <a:solidFill>
              <a:srgbClr val="B5DDD5"/>
            </a:solidFill>
          </a:ln>
        </p:spPr>
        <p:txBody>
          <a:bodyPr/>
          <a:lstStyle/>
          <a:p/>
        </p:txBody>
      </p:sp>
      <p:sp>
        <p:nvSpPr>
          <p:cNvPr id="86" name="LabelText 86"/>
          <p:cNvSpPr txBox="1"/>
          <p:nvPr/>
        </p:nvSpPr>
        <p:spPr>
          <a:xfrm>
            <a:off x="1307592" y="26490168"/>
            <a:ext cx="1535277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領域別ラベルなし｜4領域の時系列的な骨折証拠を同時に学習</a:t>
            </a:r>
            <a:endParaRPr lang="ja-JP" sz="1700"/>
          </a:p>
        </p:txBody>
      </p:sp>
      <p:sp>
        <p:nvSpPr>
          <p:cNvPr id="87" name="LabelBackground 87"/>
          <p:cNvSpPr/>
          <p:nvPr/>
        </p:nvSpPr>
        <p:spPr>
          <a:xfrm>
            <a:off x="21031200" y="26471880"/>
            <a:ext cx="7955280" cy="1024128"/>
          </a:xfrm>
          <a:prstGeom prst="roundRect">
            <a:avLst/>
          </a:prstGeom>
          <a:solidFill>
            <a:srgbClr val="FBF5E6"/>
          </a:solidFill>
          <a:ln w="15240">
            <a:solidFill>
              <a:srgbClr val="E6CE82"/>
            </a:solidFill>
          </a:ln>
        </p:spPr>
        <p:txBody>
          <a:bodyPr/>
          <a:lstStyle/>
          <a:p/>
        </p:txBody>
      </p:sp>
      <p:sp>
        <p:nvSpPr>
          <p:cNvPr id="88" name="LabelText 88"/>
          <p:cNvSpPr txBox="1"/>
          <p:nvPr/>
        </p:nvSpPr>
        <p:spPr>
          <a:xfrm>
            <a:off x="21104352" y="26490168"/>
            <a:ext cx="780897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7D5A12"/>
                </a:solidFill>
                <a:latin typeface="Noto Sans CJK JP"/>
                <a:ea typeface="Noto Sans CJK JP"/>
                <a:cs typeface="Noto Sans CJK JP"/>
              </a:rPr>
              <a:t>教師：椎体全体の骨折有無のみ</a:t>
            </a:r>
            <a:endParaRPr lang="ja-JP" sz="1700"/>
          </a:p>
        </p:txBody>
      </p:sp>
      <p:sp>
        <p:nvSpPr>
          <p:cNvPr id="89" name="Shape 89"/>
          <p:cNvSpPr/>
          <p:nvPr/>
        </p:nvSpPr>
        <p:spPr>
          <a:xfrm>
            <a:off x="26517600" y="24524208"/>
            <a:ext cx="658368" cy="1920240"/>
          </a:xfrm>
          <a:prstGeom prst="upArrow">
            <a:avLst/>
          </a:prstGeom>
          <a:solidFill>
            <a:srgbClr val="D3A8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Text 90"/>
          <p:cNvSpPr txBox="1"/>
          <p:nvPr/>
        </p:nvSpPr>
        <p:spPr>
          <a:xfrm>
            <a:off x="1828800" y="27752040"/>
            <a:ext cx="2660904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536575"/>
                </a:solidFill>
                <a:latin typeface="Noto Sans CJK JP"/>
                <a:ea typeface="Noto Sans CJK JP"/>
                <a:cs typeface="Noto Sans CJK JP"/>
              </a:rPr>
              <a:t>断面 → 領域 → 椎体の階層で予測し、最終の椎体判定だけに教師を与えて全体を学習</a:t>
            </a:r>
            <a:endParaRPr lang="ja-JP" sz="1900"/>
          </a:p>
        </p:txBody>
      </p:sp>
      <p:sp>
        <p:nvSpPr>
          <p:cNvPr id="91" name="Shape 91"/>
          <p:cNvSpPr/>
          <p:nvPr/>
        </p:nvSpPr>
        <p:spPr>
          <a:xfrm>
            <a:off x="777240" y="29763720"/>
            <a:ext cx="14063472" cy="1211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7E3"/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15435072" y="29763720"/>
            <a:ext cx="14063472" cy="1211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7E3"/>
            </a:solidFill>
          </a:ln>
        </p:spPr>
        <p:txBody>
          <a:bodyPr/>
          <a:lstStyle/>
          <a:p/>
        </p:txBody>
      </p:sp>
      <p:sp>
        <p:nvSpPr>
          <p:cNvPr id="93" name="Shape 93"/>
          <p:cNvSpPr/>
          <p:nvPr/>
        </p:nvSpPr>
        <p:spPr>
          <a:xfrm>
            <a:off x="1051560" y="29992320"/>
            <a:ext cx="13514832" cy="960120"/>
          </a:xfrm>
          <a:prstGeom prst="roundRect">
            <a:avLst/>
          </a:prstGeom>
          <a:solidFill>
            <a:srgbClr val="238D85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Shape 94"/>
          <p:cNvSpPr/>
          <p:nvPr/>
        </p:nvSpPr>
        <p:spPr>
          <a:xfrm>
            <a:off x="1307592" y="30147768"/>
            <a:ext cx="10972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Text 95"/>
          <p:cNvSpPr txBox="1"/>
          <p:nvPr/>
        </p:nvSpPr>
        <p:spPr>
          <a:xfrm>
            <a:off x="1618488" y="30056328"/>
            <a:ext cx="1269187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3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実験結果</a:t>
            </a:r>
            <a:endParaRPr lang="ja-JP" sz="3000"/>
          </a:p>
        </p:txBody>
      </p:sp>
      <p:sp>
        <p:nvSpPr>
          <p:cNvPr id="96" name="Shape 96"/>
          <p:cNvSpPr/>
          <p:nvPr/>
        </p:nvSpPr>
        <p:spPr>
          <a:xfrm>
            <a:off x="15709392" y="29992320"/>
            <a:ext cx="13514832" cy="960120"/>
          </a:xfrm>
          <a:prstGeom prst="roundRect">
            <a:avLst/>
          </a:prstGeom>
          <a:solidFill>
            <a:srgbClr val="1E6F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Shape 97"/>
          <p:cNvSpPr/>
          <p:nvPr/>
        </p:nvSpPr>
        <p:spPr>
          <a:xfrm>
            <a:off x="15965424" y="30147768"/>
            <a:ext cx="10972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Text 98"/>
          <p:cNvSpPr txBox="1"/>
          <p:nvPr/>
        </p:nvSpPr>
        <p:spPr>
          <a:xfrm>
            <a:off x="16276320" y="30056328"/>
            <a:ext cx="1269187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3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考察・展望</a:t>
            </a:r>
            <a:endParaRPr lang="ja-JP" sz="3000"/>
          </a:p>
        </p:txBody>
      </p:sp>
      <p:sp>
        <p:nvSpPr>
          <p:cNvPr id="99" name="Shape 99"/>
          <p:cNvSpPr/>
          <p:nvPr/>
        </p:nvSpPr>
        <p:spPr>
          <a:xfrm>
            <a:off x="1435608" y="31336488"/>
            <a:ext cx="12746736" cy="2057400"/>
          </a:xfrm>
          <a:prstGeom prst="roundRect">
            <a:avLst/>
          </a:prstGeom>
          <a:solidFill>
            <a:srgbClr val="E9F6F3"/>
          </a:solidFill>
          <a:ln w="12700">
            <a:solidFill>
              <a:srgbClr val="B5DDD5"/>
            </a:solidFill>
          </a:ln>
        </p:spPr>
        <p:txBody>
          <a:bodyPr/>
          <a:lstStyle/>
          <a:p/>
        </p:txBody>
      </p:sp>
      <p:sp>
        <p:nvSpPr>
          <p:cNvPr id="100" name="Text 100"/>
          <p:cNvSpPr txBox="1"/>
          <p:nvPr/>
        </p:nvSpPr>
        <p:spPr>
          <a:xfrm>
            <a:off x="1709928" y="31537656"/>
            <a:ext cx="12198096" cy="1664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23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弱ラベル学習により</a:t>
            </a:r>
            <a:endParaRPr lang="ja-JP" sz="2300"/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2500" b="1" dirty="0">
                <a:solidFill>
                  <a:srgbClr val="173B5E"/>
                </a:solidFill>
                <a:latin typeface="Noto Sans CJK JP"/>
                <a:ea typeface="Noto Sans CJK JP"/>
                <a:cs typeface="Noto Sans CJK JP"/>
              </a:rPr>
              <a:t>4領域ごとの骨折候補を提示できることを確認</a:t>
            </a:r>
            <a:endParaRPr lang="ja-JP" sz="2500"/>
          </a:p>
        </p:txBody>
      </p:sp>
      <p:sp>
        <p:nvSpPr>
          <p:cNvPr id="101" name="Text 101"/>
          <p:cNvSpPr txBox="1"/>
          <p:nvPr/>
        </p:nvSpPr>
        <p:spPr>
          <a:xfrm>
            <a:off x="1527048" y="3383280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02" name="Text 102"/>
          <p:cNvSpPr txBox="1"/>
          <p:nvPr/>
        </p:nvSpPr>
        <p:spPr>
          <a:xfrm>
            <a:off x="1965960" y="33832800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独立評価データで椎体単位の骨折識別が成立</a:t>
            </a:r>
            <a:endParaRPr lang="ja-JP" sz="1900"/>
          </a:p>
        </p:txBody>
      </p:sp>
      <p:sp>
        <p:nvSpPr>
          <p:cNvPr id="103" name="Text 103"/>
          <p:cNvSpPr txBox="1"/>
          <p:nvPr/>
        </p:nvSpPr>
        <p:spPr>
          <a:xfrm>
            <a:off x="1527048" y="3488436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04" name="Text 104"/>
          <p:cNvSpPr txBox="1"/>
          <p:nvPr/>
        </p:nvSpPr>
        <p:spPr>
          <a:xfrm>
            <a:off x="1965960" y="34884360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椎体・左右横突孔周辺・後方要素から候補スコアを出力</a:t>
            </a:r>
            <a:endParaRPr lang="ja-JP" sz="1900"/>
          </a:p>
        </p:txBody>
      </p:sp>
      <p:sp>
        <p:nvSpPr>
          <p:cNvPr id="105" name="Text 105"/>
          <p:cNvSpPr txBox="1"/>
          <p:nvPr/>
        </p:nvSpPr>
        <p:spPr>
          <a:xfrm>
            <a:off x="1527048" y="3593592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06" name="Text 106"/>
          <p:cNvSpPr txBox="1"/>
          <p:nvPr/>
        </p:nvSpPr>
        <p:spPr>
          <a:xfrm>
            <a:off x="1965960" y="35935920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症例に応じて注目領域が変化</a:t>
            </a:r>
            <a:endParaRPr lang="ja-JP" sz="1900"/>
          </a:p>
        </p:txBody>
      </p:sp>
      <p:sp>
        <p:nvSpPr>
          <p:cNvPr id="107" name="Text 107"/>
          <p:cNvSpPr txBox="1"/>
          <p:nvPr/>
        </p:nvSpPr>
        <p:spPr>
          <a:xfrm>
            <a:off x="1527048" y="3698748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08" name="Text 108"/>
          <p:cNvSpPr txBox="1"/>
          <p:nvPr/>
        </p:nvSpPr>
        <p:spPr>
          <a:xfrm>
            <a:off x="1965960" y="36987480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特定領域だけに固定されない挙動を確認</a:t>
            </a:r>
            <a:endParaRPr lang="ja-JP" sz="1900"/>
          </a:p>
        </p:txBody>
      </p:sp>
      <p:sp>
        <p:nvSpPr>
          <p:cNvPr id="109" name="Text 109"/>
          <p:cNvSpPr txBox="1"/>
          <p:nvPr/>
        </p:nvSpPr>
        <p:spPr>
          <a:xfrm>
            <a:off x="1527048" y="3803904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10" name="Text 110"/>
          <p:cNvSpPr txBox="1"/>
          <p:nvPr/>
        </p:nvSpPr>
        <p:spPr>
          <a:xfrm>
            <a:off x="1965960" y="38039040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領域別出力を経由しても全体の判別性能を維持</a:t>
            </a:r>
            <a:endParaRPr lang="ja-JP" sz="1900"/>
          </a:p>
        </p:txBody>
      </p:sp>
      <p:sp>
        <p:nvSpPr>
          <p:cNvPr id="111" name="Shape 111"/>
          <p:cNvSpPr/>
          <p:nvPr/>
        </p:nvSpPr>
        <p:spPr>
          <a:xfrm>
            <a:off x="1435608" y="39502080"/>
            <a:ext cx="12746736" cy="1600200"/>
          </a:xfrm>
          <a:prstGeom prst="roundRect">
            <a:avLst/>
          </a:prstGeom>
          <a:solidFill>
            <a:srgbClr val="FBF5E6"/>
          </a:solidFill>
          <a:ln w="12700">
            <a:solidFill>
              <a:srgbClr val="E6CE82"/>
            </a:solidFill>
          </a:ln>
        </p:spPr>
        <p:txBody>
          <a:bodyPr/>
          <a:lstStyle/>
          <a:p/>
        </p:txBody>
      </p:sp>
      <p:sp>
        <p:nvSpPr>
          <p:cNvPr id="112" name="Text 112"/>
          <p:cNvSpPr txBox="1"/>
          <p:nvPr/>
        </p:nvSpPr>
        <p:spPr>
          <a:xfrm>
            <a:off x="1673352" y="39712392"/>
            <a:ext cx="1227124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dirty="0">
                <a:solidFill>
                  <a:srgbClr val="6F571C"/>
                </a:solidFill>
                <a:latin typeface="Noto Sans CJK JP"/>
                <a:ea typeface="Noto Sans CJK JP"/>
                <a:cs typeface="Noto Sans CJK JP"/>
              </a:rPr>
              <a:t>領域別出力は確定的な骨折確率ではなく、弱ラベルから得た骨折候補スコア</a:t>
            </a:r>
            <a:endParaRPr lang="ja-JP" sz="1700"/>
          </a:p>
        </p:txBody>
      </p:sp>
      <p:sp>
        <p:nvSpPr>
          <p:cNvPr id="113" name="LabelBackground 113"/>
          <p:cNvSpPr/>
          <p:nvPr/>
        </p:nvSpPr>
        <p:spPr>
          <a:xfrm>
            <a:off x="16093440" y="31336488"/>
            <a:ext cx="2926080" cy="658368"/>
          </a:xfrm>
          <a:prstGeom prst="roundRect">
            <a:avLst/>
          </a:prstGeom>
          <a:solidFill>
            <a:srgbClr val="238D8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LabelText 114"/>
          <p:cNvSpPr txBox="1"/>
          <p:nvPr/>
        </p:nvSpPr>
        <p:spPr>
          <a:xfrm>
            <a:off x="16166592" y="31354776"/>
            <a:ext cx="277977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考察</a:t>
            </a:r>
            <a:endParaRPr lang="ja-JP" sz="1800"/>
          </a:p>
        </p:txBody>
      </p:sp>
      <p:sp>
        <p:nvSpPr>
          <p:cNvPr id="115" name="Text 115"/>
          <p:cNvSpPr txBox="1"/>
          <p:nvPr/>
        </p:nvSpPr>
        <p:spPr>
          <a:xfrm>
            <a:off x="16184880" y="32250888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16" name="Text 116"/>
          <p:cNvSpPr txBox="1"/>
          <p:nvPr/>
        </p:nvSpPr>
        <p:spPr>
          <a:xfrm>
            <a:off x="16623792" y="32250888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詳細な領域ラベルなしで、解剖学的な局在候補を学習</a:t>
            </a:r>
            <a:endParaRPr lang="ja-JP" sz="1900"/>
          </a:p>
        </p:txBody>
      </p:sp>
      <p:sp>
        <p:nvSpPr>
          <p:cNvPr id="117" name="Text 117"/>
          <p:cNvSpPr txBox="1"/>
          <p:nvPr/>
        </p:nvSpPr>
        <p:spPr>
          <a:xfrm>
            <a:off x="16184880" y="33393888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18" name="Text 118"/>
          <p:cNvSpPr txBox="1"/>
          <p:nvPr/>
        </p:nvSpPr>
        <p:spPr>
          <a:xfrm>
            <a:off x="16623792" y="33393888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『骨折の有無』から『骨折の場所』を示すAIへ拡張</a:t>
            </a:r>
            <a:endParaRPr lang="ja-JP" sz="1900"/>
          </a:p>
        </p:txBody>
      </p:sp>
      <p:sp>
        <p:nvSpPr>
          <p:cNvPr id="119" name="Text 119"/>
          <p:cNvSpPr txBox="1"/>
          <p:nvPr/>
        </p:nvSpPr>
        <p:spPr>
          <a:xfrm>
            <a:off x="16184880" y="34536888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238D85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20" name="Text 120"/>
          <p:cNvSpPr txBox="1"/>
          <p:nvPr/>
        </p:nvSpPr>
        <p:spPr>
          <a:xfrm>
            <a:off x="16623792" y="34536888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横突孔周辺の確認や追加評価の優先順位付けに応用可能</a:t>
            </a:r>
            <a:endParaRPr lang="ja-JP" sz="1900"/>
          </a:p>
        </p:txBody>
      </p:sp>
      <p:sp>
        <p:nvSpPr>
          <p:cNvPr id="121" name="LabelBackground 121"/>
          <p:cNvSpPr/>
          <p:nvPr/>
        </p:nvSpPr>
        <p:spPr>
          <a:xfrm>
            <a:off x="16093440" y="35844480"/>
            <a:ext cx="3840480" cy="658368"/>
          </a:xfrm>
          <a:prstGeom prst="roundRect">
            <a:avLst/>
          </a:prstGeom>
          <a:solidFill>
            <a:srgbClr val="1E6F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LabelText 122"/>
          <p:cNvSpPr txBox="1"/>
          <p:nvPr/>
        </p:nvSpPr>
        <p:spPr>
          <a:xfrm>
            <a:off x="16166592" y="35862768"/>
            <a:ext cx="369417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8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今後の展望</a:t>
            </a:r>
            <a:endParaRPr lang="ja-JP" sz="1800"/>
          </a:p>
        </p:txBody>
      </p:sp>
      <p:sp>
        <p:nvSpPr>
          <p:cNvPr id="123" name="Text 123"/>
          <p:cNvSpPr txBox="1"/>
          <p:nvPr/>
        </p:nvSpPr>
        <p:spPr>
          <a:xfrm>
            <a:off x="16184880" y="3675888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1E6FA6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24" name="Text 124"/>
          <p:cNvSpPr txBox="1"/>
          <p:nvPr/>
        </p:nvSpPr>
        <p:spPr>
          <a:xfrm>
            <a:off x="16623792" y="36758880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専門家ラベルによる局在妥当性の直接評価</a:t>
            </a:r>
            <a:endParaRPr lang="ja-JP" sz="1900"/>
          </a:p>
        </p:txBody>
      </p:sp>
      <p:sp>
        <p:nvSpPr>
          <p:cNvPr id="125" name="Text 125"/>
          <p:cNvSpPr txBox="1"/>
          <p:nvPr/>
        </p:nvSpPr>
        <p:spPr>
          <a:xfrm>
            <a:off x="16184880" y="37819584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1E6FA6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26" name="Text 126"/>
          <p:cNvSpPr txBox="1"/>
          <p:nvPr/>
        </p:nvSpPr>
        <p:spPr>
          <a:xfrm>
            <a:off x="16623792" y="37819584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血管画像上の椎骨動脈所見との関連検証</a:t>
            </a:r>
            <a:endParaRPr lang="ja-JP" sz="1900"/>
          </a:p>
        </p:txBody>
      </p:sp>
      <p:sp>
        <p:nvSpPr>
          <p:cNvPr id="127" name="Text 127"/>
          <p:cNvSpPr txBox="1"/>
          <p:nvPr/>
        </p:nvSpPr>
        <p:spPr>
          <a:xfrm>
            <a:off x="16184880" y="38880288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1E6FA6"/>
                </a:solidFill>
                <a:latin typeface="Noto Sans CJK JP"/>
                <a:ea typeface="Noto Sans CJK JP"/>
                <a:cs typeface="Noto Sans CJK JP"/>
              </a:rPr>
              <a:t>●</a:t>
            </a:r>
            <a:endParaRPr lang="ja-JP" sz="1700"/>
          </a:p>
        </p:txBody>
      </p:sp>
      <p:sp>
        <p:nvSpPr>
          <p:cNvPr id="128" name="Text 128"/>
          <p:cNvSpPr txBox="1"/>
          <p:nvPr/>
        </p:nvSpPr>
        <p:spPr>
          <a:xfrm>
            <a:off x="16623792" y="38880288"/>
            <a:ext cx="12252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ja-JP" sz="1900" dirty="0">
                <a:solidFill>
                  <a:srgbClr val="243342"/>
                </a:solidFill>
                <a:latin typeface="Noto Sans CJK JP"/>
                <a:ea typeface="Noto Sans CJK JP"/>
                <a:cs typeface="Noto Sans CJK JP"/>
              </a:rPr>
              <a:t>骨折形態・臨床情報を統合したリスク評価への発展</a:t>
            </a:r>
            <a:endParaRPr lang="ja-JP" sz="1900"/>
          </a:p>
        </p:txBody>
      </p:sp>
      <p:sp>
        <p:nvSpPr>
          <p:cNvPr id="129" name="Shape 129"/>
          <p:cNvSpPr/>
          <p:nvPr/>
        </p:nvSpPr>
        <p:spPr>
          <a:xfrm>
            <a:off x="16093440" y="39959280"/>
            <a:ext cx="12746736" cy="114300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B9D4E4"/>
            </a:solidFill>
          </a:ln>
        </p:spPr>
        <p:txBody>
          <a:bodyPr/>
          <a:lstStyle/>
          <a:p/>
        </p:txBody>
      </p:sp>
      <p:sp>
        <p:nvSpPr>
          <p:cNvPr id="130" name="Text 130"/>
          <p:cNvSpPr txBox="1"/>
          <p:nvPr/>
        </p:nvSpPr>
        <p:spPr>
          <a:xfrm>
            <a:off x="16331184" y="40133016"/>
            <a:ext cx="12271248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45720" bIns="4572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ja-JP" sz="1700" b="1" dirty="0">
                <a:solidFill>
                  <a:srgbClr val="173B5E"/>
                </a:solidFill>
                <a:latin typeface="Noto Sans CJK JP"/>
                <a:ea typeface="Noto Sans CJK JP"/>
                <a:cs typeface="Noto Sans CJK JP"/>
              </a:rPr>
              <a:t>椎骨動脈損傷を直接診断するのではなく、リスク評価につながる基盤技術</a:t>
            </a:r>
            <a:endParaRPr lang="ja-JP" sz="1700"/>
          </a:p>
        </p:txBody>
      </p:sp>
      <p:sp>
        <p:nvSpPr>
          <p:cNvPr id="131" name="Shape 131"/>
          <p:cNvSpPr/>
          <p:nvPr/>
        </p:nvSpPr>
        <p:spPr>
          <a:xfrm>
            <a:off x="0" y="42336720"/>
            <a:ext cx="30275784" cy="466344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3CCD8590AF11449B8FF04FDB74EFFBB" ma:contentTypeVersion="1" ma:contentTypeDescription="新しいドキュメントを作成します。" ma:contentTypeScope="" ma:versionID="472224136dbd69ecc2ebf6b4652e7640">
  <xsd:schema xmlns:xsd="http://www.w3.org/2001/XMLSchema" xmlns:xs="http://www.w3.org/2001/XMLSchema" xmlns:p="http://schemas.microsoft.com/office/2006/metadata/properties" xmlns:ns3="f981b95a-0b9c-40d8-b56d-862c7f782141" targetNamespace="http://schemas.microsoft.com/office/2006/metadata/properties" ma:root="true" ma:fieldsID="3b1ad59aec0c0b772080c6b1f39c5d09" ns3:_="">
    <xsd:import namespace="f981b95a-0b9c-40d8-b56d-862c7f78214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81b95a-0b9c-40d8-b56d-862c7f78214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75C80D-BCA4-47D1-8501-60FBCEA401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7F9AC2-51D3-422A-99FA-AF2DA603FA19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f981b95a-0b9c-40d8-b56d-862c7f782141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3E86858-9965-44E9-9C69-8392BA90CF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81b95a-0b9c-40d8-b56d-862c7f7821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10865</TotalTime>
  <Words>1166</Words>
  <Application>Microsoft Office PowerPoint</Application>
  <PresentationFormat>ユーザー設定</PresentationFormat>
  <Paragraphs>108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ＭＳ Ｐゴシック</vt:lpstr>
      <vt:lpstr>游ゴシック</vt:lpstr>
      <vt:lpstr>Arial</vt:lpstr>
      <vt:lpstr>Calibri</vt:lpstr>
      <vt:lpstr>Calibri Light</vt:lpstr>
      <vt:lpstr>Wingdings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椎骨動脈損傷リスク評価に向けた頸椎の解剖学的領域別骨折検出AIの開発</dc:title>
  <dc:creator>坂口 裕也</dc:creator>
  <cp:lastModifiedBy>裕也 坂口</cp:lastModifiedBy>
  <cp:revision>129</cp:revision>
  <cp:lastPrinted>2023-09-06T08:38:26Z</cp:lastPrinted>
  <dcterms:created xsi:type="dcterms:W3CDTF">2023-08-18T01:30:35Z</dcterms:created>
  <dcterms:modified xsi:type="dcterms:W3CDTF">2025-11-28T07:58:39Z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0x01010083CCD8590AF11449B8FF04FDB74EFFBB</vt:lpwstr>
  </property>
</Properties>
</file>